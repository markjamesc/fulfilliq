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6C6C"/>
                </a:solidFill>
                <a:latin typeface="Calibri"/>
              </a:rPr>
              <a:t>FULFILLIQ  ·  STAGE 5  ·  DECISION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Enroll 18 sellers in the 30-day
late-fulfillment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832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7F4EE"/>
                </a:solidFill>
                <a:latin typeface="Calibri"/>
              </a:rPr>
              <a:t>Maya Chen, Director of Marketplace Seller Operations, decides by 18 September 2026.
Evidence: delivered seller-orders purchased 1 January–31 August 2018.
Three independent reviews (Grok, ChatGPT, DeepSeek) all recommend Option A. Maya retains approval.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46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4D4"/>
                </a:solidFill>
                <a:latin typeface="Calibri"/>
              </a:rPr>
              <a:t>Sources: output/Stage_04_seller_export.csv  ·  results/2026-09-02/FulfillIQ_R_Evidence_2026-09-02.xlsx
R ran 2 Sep 2026; assure passed after non-fatal display-percent rounding. SQL is implementation, not proof.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943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9AB0"/>
                </a:solidFill>
                <a:latin typeface="Calibri"/>
              </a:rPr>
              <a:t>Document date 2 September 2026 (America/Chicago)   ·   Not a treatment-effect claim for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Locked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FulfillIQ Stage 5  |  Decision brief  |  2 Sep 2026  |  Maya retains approval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656832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2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12471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Maya, as Director of Marketplace Seller Operations, will decide by 18 September 2026 which sellers to enroll in a 30-day late-fulfillment performance plan rather than leave on standard terms, using delivered orders with purchase 2018-01-01 through 2018-08-31. Purpose: reduce late customer deliveries before the VP meeting without penalizing tiny-sample or undelivered volume.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31720"/>
            <a:ext cx="11247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Featured placement is ops, not a column. Offboarding is a later VP recommendation, not this decision.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Cap about 20 concurrent plans. Do not pad. No 95% SLA. No 8.11% descriptive cut.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Volume floor ≥30 usable seller-orders after exclusions (provisional). Grain: seller-order then seller-window.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Working lateness: DATE(actual) &gt; DATE(estimate); timestamp twin required. Attribution conflict → inconclusive.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Peer rule: LFR ≥ P75 of n≥30 AND LFR &gt; seller-order-weighted marketplace LFR; if clean P75 set &gt;20, raise enroll bar to P90.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989320"/>
            <a:ext cx="11247120" cy="502920"/>
          </a:xfrm>
          <a:prstGeom prst="rect">
            <a:avLst/>
          </a:prstGeom>
          <a:solidFill>
            <a:srgbClr val="F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0350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5563"/>
                </a:solidFill>
                <a:latin typeface="Calibri"/>
              </a:rPr>
              <a:t>Source: docs/Stages_01_02_Dialogue_and_Handoff.md  ·  docs/Stage_03_Measurement_Design.md  (not reopened)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Framing question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FulfillIQ Stage 5  |  Decision brief  |  2 Sep 2026  |  Maya retains approval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656832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3 /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60120"/>
            <a:ext cx="11247120" cy="1691640"/>
          </a:xfrm>
          <a:prstGeom prst="rect">
            <a:avLst/>
          </a:prstGeom>
          <a:solidFill>
            <a:srgbClr val="F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960120"/>
            <a:ext cx="109728" cy="1691640"/>
          </a:xfrm>
          <a:prstGeom prst="rect">
            <a:avLst/>
          </a:prstGeom>
          <a:solidFill>
            <a:srgbClr val="0F6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097280"/>
            <a:ext cx="106984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365D"/>
                </a:solidFill>
                <a:latin typeface="Calibri"/>
              </a:rPr>
              <a:t>Among sellers who fulfilled delivered orders purchased 1 January–31 August 2018, which show late-fulfillment that would support enrollment in a 30-day plan versus standard terms?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80360"/>
            <a:ext cx="112471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Hypothesis (Stage 3): some floor-qualified sellers show a late pattern worse than same-window peers, stable across split windows, not an artifact of grain or timestamp anomalies.</a:t>
            </a:r>
          </a:p>
          <a:p>
            <a:pPr algn="l">
              <a:spcAft>
                <a:spcPts val="9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Operational null: nobody presents a VP-defensible enrollment case inside the ~20 cap.</a:t>
            </a:r>
          </a:p>
          <a:p>
            <a:pPr algn="l">
              <a:spcAft>
                <a:spcPts val="9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Stage 5 verdict: hypothesis SUPPORTED for the executed 18. Operational null NOT supported.</a:t>
            </a:r>
          </a:p>
          <a:p>
            <a:pPr algn="l">
              <a:spcAft>
                <a:spcPts val="9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Do not claim the 30-day plan will cause lower LFR. Do not claim 2026 performance equals 2018.</a:t>
            </a:r>
          </a:p>
          <a:p>
            <a:pPr algn="l">
              <a:spcAft>
                <a:spcPts val="9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18 is a rule output, not a target, not “the worst 18,” not “the top 18 performers.”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Executed facts  ·  CSV / xlsx  (do not invent numbers)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FulfillIQ Stage 5  |  Decision brief  |  2 Sep 2026  |  Maya retains approval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656832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4 /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868680"/>
            <a:ext cx="2788920" cy="1554480"/>
          </a:xfrm>
          <a:prstGeom prst="rect">
            <a:avLst/>
          </a:prstGeom>
          <a:solidFill>
            <a:srgbClr val="F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868680"/>
            <a:ext cx="2788920" cy="73152"/>
          </a:xfrm>
          <a:prstGeom prst="rect">
            <a:avLst/>
          </a:prstGeom>
          <a:solidFill>
            <a:srgbClr val="0F6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" y="987552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65D"/>
                </a:solidFill>
                <a:latin typeface="Calibri"/>
              </a:rPr>
              <a:t>2,329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" y="15544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6C6C"/>
                </a:solidFill>
                <a:latin typeface="Calibri"/>
              </a:rPr>
              <a:t>clean sellers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" y="187451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563"/>
                </a:solidFill>
                <a:latin typeface="Calibri"/>
              </a:rPr>
              <a:t>2 junk city-newline rows stitched; not extra sellers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0" y="868680"/>
            <a:ext cx="2788920" cy="1554480"/>
          </a:xfrm>
          <a:prstGeom prst="rect">
            <a:avLst/>
          </a:prstGeom>
          <a:solidFill>
            <a:srgbClr val="F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37560" y="868680"/>
            <a:ext cx="2788920" cy="73152"/>
          </a:xfrm>
          <a:prstGeom prst="rect">
            <a:avLst/>
          </a:prstGeom>
          <a:solidFill>
            <a:srgbClr val="0F6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47288" y="987552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65D"/>
                </a:solidFill>
                <a:latin typeface="Calibri"/>
              </a:rPr>
              <a:t>53,611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47288" y="15544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6C6C"/>
                </a:solidFill>
                <a:latin typeface="Calibri"/>
              </a:rPr>
              <a:t>eligible seller-orders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47288" y="187451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563"/>
                </a:solidFill>
                <a:latin typeface="Calibri"/>
              </a:rPr>
              <a:t>late_n sum 4,084  ·  overall LFR 7.62%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868680"/>
            <a:ext cx="2788920" cy="1554480"/>
          </a:xfrm>
          <a:prstGeom prst="rect">
            <a:avLst/>
          </a:prstGeom>
          <a:solidFill>
            <a:srgbClr val="F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868680"/>
            <a:ext cx="2788920" cy="73152"/>
          </a:xfrm>
          <a:prstGeom prst="rect">
            <a:avLst/>
          </a:prstGeom>
          <a:solidFill>
            <a:srgbClr val="0F6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3368" y="987552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65D"/>
                </a:solidFill>
                <a:latin typeface="Calibri"/>
              </a:rPr>
              <a:t>393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15544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6C6C"/>
                </a:solidFill>
                <a:latin typeface="Calibri"/>
              </a:rPr>
              <a:t>n ≥ 30 floor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3368" y="187451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563"/>
                </a:solidFill>
                <a:latin typeface="Calibri"/>
              </a:rPr>
              <a:t>below floor 1,936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89720" y="868680"/>
            <a:ext cx="2788920" cy="1554480"/>
          </a:xfrm>
          <a:prstGeom prst="rect">
            <a:avLst/>
          </a:prstGeom>
          <a:solidFill>
            <a:srgbClr val="F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89720" y="868680"/>
            <a:ext cx="2788920" cy="73152"/>
          </a:xfrm>
          <a:prstGeom prst="rect">
            <a:avLst/>
          </a:prstGeom>
          <a:solidFill>
            <a:srgbClr val="0F6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99448" y="987552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65D"/>
                </a:solidFill>
                <a:latin typeface="Calibri"/>
              </a:rPr>
              <a:t>18 / 63 / 36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9448" y="15544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6C6C"/>
                </a:solidFill>
                <a:latin typeface="Calibri"/>
              </a:rPr>
              <a:t>enroll / watch / inconclusive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99448" y="187451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563"/>
                </a:solidFill>
                <a:latin typeface="Calibri"/>
              </a:rPr>
              <a:t>standard_terms 2,212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2606040"/>
            <a:ext cx="11338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Peer (n≥30): weighted mkt LFR 0.07808; median 0.06667; P75 0.10169; P90 0.14286; raise_bar_to_p90 = 1 (clean P75 pool &gt;20).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pass_p75 = 99; pass_p90 = 40. 99 P75-passers are not an enrollment list.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Watch 63 = 51 split_window_unstable + 12 p75_watch_band_after_cap. Inconclusive 36 = all date_vs_timestamp_action_conflict. attribution_conflict = 0.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Volume bands among floor sellers: 30–49 = 159; 50–99 = 141; 100+ = 93.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R ran 2026-09-02; rate/flag/action reconciliation passed after non-fatal lfr_date_pct display rounding (&lt;0.5pp).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pass_p90 = 40 and enroll = 18 are facts. The path of the other 22 P90 passers is not in the pack. Do not reconstruct a cross-tab.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Enroll 18  ·  all reason p90_and_above_weighted_after_cap  ·  states SP 14  RJ 2  SC 1  MA 1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FulfillIQ Stage 5  |  Decision brief  |  2 Sep 2026  |  Maya retains approval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656832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5 /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713232"/>
            <a:ext cx="640080" cy="278892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000" b="1">
                <a:solidFill>
                  <a:srgbClr val="FFFFFF"/>
                </a:solidFill>
                <a:latin typeface="Calibri"/>
              </a:rPr>
              <a:t>Rank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713232"/>
            <a:ext cx="5623560" cy="278892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>
              <a:spcBef>
                <a:spcPts val="400"/>
              </a:spcBef>
            </a:pPr>
            <a:r>
              <a:rPr sz="1000" b="1">
                <a:solidFill>
                  <a:srgbClr val="FFFFFF"/>
                </a:solidFill>
                <a:latin typeface="Calibri"/>
              </a:rPr>
              <a:t>  seller_id</a:t>
            </a:r>
          </a:p>
        </p:txBody>
      </p:sp>
      <p:sp>
        <p:nvSpPr>
          <p:cNvPr id="9" name="Rectangle 8"/>
          <p:cNvSpPr/>
          <p:nvPr/>
        </p:nvSpPr>
        <p:spPr>
          <a:xfrm>
            <a:off x="6629400" y="713232"/>
            <a:ext cx="502920" cy="278892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000" b="1">
                <a:solidFill>
                  <a:srgbClr val="FFFFFF"/>
                </a:solidFill>
                <a:latin typeface="Calibri"/>
              </a:rPr>
              <a:t>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0" y="713232"/>
            <a:ext cx="640080" cy="278892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000" b="1">
                <a:solidFill>
                  <a:srgbClr val="FFFFFF"/>
                </a:solidFill>
                <a:latin typeface="Calibri"/>
              </a:rPr>
              <a:t>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0" y="713232"/>
            <a:ext cx="1051560" cy="278892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000" b="1">
                <a:solidFill>
                  <a:srgbClr val="FFFFFF"/>
                </a:solidFill>
                <a:latin typeface="Calibri"/>
              </a:rPr>
              <a:t>late/n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823960" y="713232"/>
            <a:ext cx="1051560" cy="278892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000" b="1">
                <a:solidFill>
                  <a:srgbClr val="FFFFFF"/>
                </a:solidFill>
                <a:latin typeface="Calibri"/>
              </a:rPr>
              <a:t>LFR date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875520" y="713232"/>
            <a:ext cx="1051560" cy="278892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000" b="1">
                <a:solidFill>
                  <a:srgbClr val="FFFFFF"/>
                </a:solidFill>
                <a:latin typeface="Calibri"/>
              </a:rPr>
              <a:t>LFR 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992124"/>
            <a:ext cx="640080" cy="278892"/>
          </a:xfrm>
          <a:prstGeom prst="rect">
            <a:avLst/>
          </a:prstGeom>
          <a:solidFill>
            <a:srgbClr val="FFFFFF"/>
          </a:solidFill>
          <a:ln w="508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992124"/>
            <a:ext cx="5623560" cy="278892"/>
          </a:xfrm>
          <a:prstGeom prst="rect">
            <a:avLst/>
          </a:prstGeom>
          <a:solidFill>
            <a:srgbClr val="FFFFFF"/>
          </a:solidFill>
          <a:ln w="508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  c3867b4666c7d76867627c2f7fb22e21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29400" y="992124"/>
            <a:ext cx="502920" cy="278892"/>
          </a:xfrm>
          <a:prstGeom prst="rect">
            <a:avLst/>
          </a:prstGeom>
          <a:solidFill>
            <a:srgbClr val="FFFFFF"/>
          </a:solidFill>
          <a:ln w="508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SP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0" y="992124"/>
            <a:ext cx="640080" cy="278892"/>
          </a:xfrm>
          <a:prstGeom prst="rect">
            <a:avLst/>
          </a:prstGeom>
          <a:solidFill>
            <a:srgbClr val="FFFFFF"/>
          </a:solidFill>
          <a:ln w="508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80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0" y="992124"/>
            <a:ext cx="1051560" cy="278892"/>
          </a:xfrm>
          <a:prstGeom prst="rect">
            <a:avLst/>
          </a:prstGeom>
          <a:solidFill>
            <a:srgbClr val="FFFFFF"/>
          </a:solidFill>
          <a:ln w="508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23/80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23960" y="992124"/>
            <a:ext cx="1051560" cy="278892"/>
          </a:xfrm>
          <a:prstGeom prst="rect">
            <a:avLst/>
          </a:prstGeom>
          <a:solidFill>
            <a:srgbClr val="FFFFFF"/>
          </a:solidFill>
          <a:ln w="508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0.288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75520" y="992124"/>
            <a:ext cx="1051560" cy="278892"/>
          </a:xfrm>
          <a:prstGeom prst="rect">
            <a:avLst/>
          </a:prstGeom>
          <a:solidFill>
            <a:srgbClr val="FFFFFF"/>
          </a:solidFill>
          <a:ln w="508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0.300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1271016"/>
            <a:ext cx="640080" cy="278892"/>
          </a:xfrm>
          <a:prstGeom prst="rect">
            <a:avLst/>
          </a:prstGeom>
          <a:solidFill>
            <a:srgbClr val="EEF3F6"/>
          </a:solidFill>
          <a:ln w="508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05840" y="1271016"/>
            <a:ext cx="5623560" cy="278892"/>
          </a:xfrm>
          <a:prstGeom prst="rect">
            <a:avLst/>
          </a:prstGeom>
          <a:solidFill>
            <a:srgbClr val="EEF3F6"/>
          </a:solidFill>
          <a:ln w="508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  cac4c8e7b1ca6252d8f20b2fc1a2e4af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29400" y="1271016"/>
            <a:ext cx="502920" cy="278892"/>
          </a:xfrm>
          <a:prstGeom prst="rect">
            <a:avLst/>
          </a:prstGeom>
          <a:solidFill>
            <a:srgbClr val="EEF3F6"/>
          </a:solidFill>
          <a:ln w="508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SP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0" y="1271016"/>
            <a:ext cx="640080" cy="278892"/>
          </a:xfrm>
          <a:prstGeom prst="rect">
            <a:avLst/>
          </a:prstGeom>
          <a:solidFill>
            <a:srgbClr val="EEF3F6"/>
          </a:solidFill>
          <a:ln w="508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46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0" y="1271016"/>
            <a:ext cx="1051560" cy="278892"/>
          </a:xfrm>
          <a:prstGeom prst="rect">
            <a:avLst/>
          </a:prstGeom>
          <a:solidFill>
            <a:srgbClr val="EEF3F6"/>
          </a:solidFill>
          <a:ln w="508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11/46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823960" y="1271016"/>
            <a:ext cx="1051560" cy="278892"/>
          </a:xfrm>
          <a:prstGeom prst="rect">
            <a:avLst/>
          </a:prstGeom>
          <a:solidFill>
            <a:srgbClr val="EEF3F6"/>
          </a:solidFill>
          <a:ln w="508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0.239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875520" y="1271016"/>
            <a:ext cx="1051560" cy="278892"/>
          </a:xfrm>
          <a:prstGeom prst="rect">
            <a:avLst/>
          </a:prstGeom>
          <a:solidFill>
            <a:srgbClr val="EEF3F6"/>
          </a:solidFill>
          <a:ln w="508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0.283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1549908"/>
            <a:ext cx="640080" cy="278892"/>
          </a:xfrm>
          <a:prstGeom prst="rect">
            <a:avLst/>
          </a:prstGeom>
          <a:solidFill>
            <a:srgbClr val="FFFFFF"/>
          </a:solidFill>
          <a:ln w="508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8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0" y="1549908"/>
            <a:ext cx="5623560" cy="278892"/>
          </a:xfrm>
          <a:prstGeom prst="rect">
            <a:avLst/>
          </a:prstGeom>
          <a:solidFill>
            <a:srgbClr val="FFFFFF"/>
          </a:solidFill>
          <a:ln w="508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  bbad7e518d7af88a0897397ffdca1979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29400" y="1549908"/>
            <a:ext cx="502920" cy="278892"/>
          </a:xfrm>
          <a:prstGeom prst="rect">
            <a:avLst/>
          </a:prstGeom>
          <a:solidFill>
            <a:srgbClr val="FFFFFF"/>
          </a:solidFill>
          <a:ln w="508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SP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0" y="1549908"/>
            <a:ext cx="640080" cy="278892"/>
          </a:xfrm>
          <a:prstGeom prst="rect">
            <a:avLst/>
          </a:prstGeom>
          <a:solidFill>
            <a:srgbClr val="FFFFFF"/>
          </a:solidFill>
          <a:ln w="508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38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0" y="1549908"/>
            <a:ext cx="1051560" cy="278892"/>
          </a:xfrm>
          <a:prstGeom prst="rect">
            <a:avLst/>
          </a:prstGeom>
          <a:solidFill>
            <a:srgbClr val="FFFFFF"/>
          </a:solidFill>
          <a:ln w="508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9/38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23960" y="1549908"/>
            <a:ext cx="1051560" cy="278892"/>
          </a:xfrm>
          <a:prstGeom prst="rect">
            <a:avLst/>
          </a:prstGeom>
          <a:solidFill>
            <a:srgbClr val="FFFFFF"/>
          </a:solidFill>
          <a:ln w="508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0.237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875520" y="1549908"/>
            <a:ext cx="1051560" cy="278892"/>
          </a:xfrm>
          <a:prstGeom prst="rect">
            <a:avLst/>
          </a:prstGeom>
          <a:solidFill>
            <a:srgbClr val="FFFFFF"/>
          </a:solidFill>
          <a:ln w="508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0.237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1828800"/>
            <a:ext cx="640080" cy="278892"/>
          </a:xfrm>
          <a:prstGeom prst="rect">
            <a:avLst/>
          </a:prstGeom>
          <a:solidFill>
            <a:srgbClr val="EEF3F6"/>
          </a:solidFill>
          <a:ln w="508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05840" y="1828800"/>
            <a:ext cx="5623560" cy="278892"/>
          </a:xfrm>
          <a:prstGeom prst="rect">
            <a:avLst/>
          </a:prstGeom>
          <a:solidFill>
            <a:srgbClr val="EEF3F6"/>
          </a:solidFill>
          <a:ln w="508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  beadbee30901a7f61d031b6b686095ad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629400" y="1828800"/>
            <a:ext cx="502920" cy="278892"/>
          </a:xfrm>
          <a:prstGeom prst="rect">
            <a:avLst/>
          </a:prstGeom>
          <a:solidFill>
            <a:srgbClr val="EEF3F6"/>
          </a:solidFill>
          <a:ln w="508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SP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132320" y="1828800"/>
            <a:ext cx="640080" cy="278892"/>
          </a:xfrm>
          <a:prstGeom prst="rect">
            <a:avLst/>
          </a:prstGeom>
          <a:solidFill>
            <a:srgbClr val="EEF3F6"/>
          </a:solidFill>
          <a:ln w="508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64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0" y="1828800"/>
            <a:ext cx="1051560" cy="278892"/>
          </a:xfrm>
          <a:prstGeom prst="rect">
            <a:avLst/>
          </a:prstGeom>
          <a:solidFill>
            <a:srgbClr val="EEF3F6"/>
          </a:solidFill>
          <a:ln w="508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15/64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823960" y="1828800"/>
            <a:ext cx="1051560" cy="278892"/>
          </a:xfrm>
          <a:prstGeom prst="rect">
            <a:avLst/>
          </a:prstGeom>
          <a:solidFill>
            <a:srgbClr val="EEF3F6"/>
          </a:solidFill>
          <a:ln w="508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0.234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875520" y="1828800"/>
            <a:ext cx="1051560" cy="278892"/>
          </a:xfrm>
          <a:prstGeom prst="rect">
            <a:avLst/>
          </a:prstGeom>
          <a:solidFill>
            <a:srgbClr val="EEF3F6"/>
          </a:solidFill>
          <a:ln w="508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0.250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2107691"/>
            <a:ext cx="640080" cy="278892"/>
          </a:xfrm>
          <a:prstGeom prst="rect">
            <a:avLst/>
          </a:prstGeom>
          <a:solidFill>
            <a:srgbClr val="FFFFFF"/>
          </a:solidFill>
          <a:ln w="508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11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05840" y="2107691"/>
            <a:ext cx="5623560" cy="278892"/>
          </a:xfrm>
          <a:prstGeom prst="rect">
            <a:avLst/>
          </a:prstGeom>
          <a:solidFill>
            <a:srgbClr val="FFFFFF"/>
          </a:solidFill>
          <a:ln w="508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  ef990a83bbea832f36ebe81376335aa8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629400" y="2107691"/>
            <a:ext cx="502920" cy="278892"/>
          </a:xfrm>
          <a:prstGeom prst="rect">
            <a:avLst/>
          </a:prstGeom>
          <a:solidFill>
            <a:srgbClr val="FFFFFF"/>
          </a:solidFill>
          <a:ln w="508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SC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132320" y="2107691"/>
            <a:ext cx="640080" cy="278892"/>
          </a:xfrm>
          <a:prstGeom prst="rect">
            <a:avLst/>
          </a:prstGeom>
          <a:solidFill>
            <a:srgbClr val="FFFFFF"/>
          </a:solidFill>
          <a:ln w="508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36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772400" y="2107691"/>
            <a:ext cx="1051560" cy="278892"/>
          </a:xfrm>
          <a:prstGeom prst="rect">
            <a:avLst/>
          </a:prstGeom>
          <a:solidFill>
            <a:srgbClr val="FFFFFF"/>
          </a:solidFill>
          <a:ln w="508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8/36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823960" y="2107691"/>
            <a:ext cx="1051560" cy="278892"/>
          </a:xfrm>
          <a:prstGeom prst="rect">
            <a:avLst/>
          </a:prstGeom>
          <a:solidFill>
            <a:srgbClr val="FFFFFF"/>
          </a:solidFill>
          <a:ln w="508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0.222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875520" y="2107691"/>
            <a:ext cx="1051560" cy="278892"/>
          </a:xfrm>
          <a:prstGeom prst="rect">
            <a:avLst/>
          </a:prstGeom>
          <a:solidFill>
            <a:srgbClr val="FFFFFF"/>
          </a:solidFill>
          <a:ln w="508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0.278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2386584"/>
            <a:ext cx="640080" cy="278892"/>
          </a:xfrm>
          <a:prstGeom prst="rect">
            <a:avLst/>
          </a:prstGeom>
          <a:solidFill>
            <a:srgbClr val="EEF3F6"/>
          </a:solidFill>
          <a:ln w="508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12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05840" y="2386584"/>
            <a:ext cx="5623560" cy="278892"/>
          </a:xfrm>
          <a:prstGeom prst="rect">
            <a:avLst/>
          </a:prstGeom>
          <a:solidFill>
            <a:srgbClr val="EEF3F6"/>
          </a:solidFill>
          <a:ln w="508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  1ca7077d890b907f89be8c954a02686a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629400" y="2386584"/>
            <a:ext cx="502920" cy="278892"/>
          </a:xfrm>
          <a:prstGeom prst="rect">
            <a:avLst/>
          </a:prstGeom>
          <a:solidFill>
            <a:srgbClr val="EEF3F6"/>
          </a:solidFill>
          <a:ln w="508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SP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132320" y="2386584"/>
            <a:ext cx="640080" cy="278892"/>
          </a:xfrm>
          <a:prstGeom prst="rect">
            <a:avLst/>
          </a:prstGeom>
          <a:solidFill>
            <a:srgbClr val="EEF3F6"/>
          </a:solidFill>
          <a:ln w="508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56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772400" y="2386584"/>
            <a:ext cx="1051560" cy="278892"/>
          </a:xfrm>
          <a:prstGeom prst="rect">
            <a:avLst/>
          </a:prstGeom>
          <a:solidFill>
            <a:srgbClr val="EEF3F6"/>
          </a:solidFill>
          <a:ln w="508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12/56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823960" y="2386584"/>
            <a:ext cx="1051560" cy="278892"/>
          </a:xfrm>
          <a:prstGeom prst="rect">
            <a:avLst/>
          </a:prstGeom>
          <a:solidFill>
            <a:srgbClr val="EEF3F6"/>
          </a:solidFill>
          <a:ln w="508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0.214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875520" y="2386584"/>
            <a:ext cx="1051560" cy="278892"/>
          </a:xfrm>
          <a:prstGeom prst="rect">
            <a:avLst/>
          </a:prstGeom>
          <a:solidFill>
            <a:srgbClr val="EEF3F6"/>
          </a:solidFill>
          <a:ln w="508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0.268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5760" y="2665476"/>
            <a:ext cx="640080" cy="278892"/>
          </a:xfrm>
          <a:prstGeom prst="rect">
            <a:avLst/>
          </a:prstGeom>
          <a:solidFill>
            <a:srgbClr val="FFFFFF"/>
          </a:solidFill>
          <a:ln w="508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14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05840" y="2665476"/>
            <a:ext cx="5623560" cy="278892"/>
          </a:xfrm>
          <a:prstGeom prst="rect">
            <a:avLst/>
          </a:prstGeom>
          <a:solidFill>
            <a:srgbClr val="FFFFFF"/>
          </a:solidFill>
          <a:ln w="508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  abe42c5d03695b4257b5c6cbf4e6784e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629400" y="2665476"/>
            <a:ext cx="502920" cy="278892"/>
          </a:xfrm>
          <a:prstGeom prst="rect">
            <a:avLst/>
          </a:prstGeom>
          <a:solidFill>
            <a:srgbClr val="FFFFFF"/>
          </a:solidFill>
          <a:ln w="508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RJ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132320" y="2665476"/>
            <a:ext cx="640080" cy="278892"/>
          </a:xfrm>
          <a:prstGeom prst="rect">
            <a:avLst/>
          </a:prstGeom>
          <a:solidFill>
            <a:srgbClr val="FFFFFF"/>
          </a:solidFill>
          <a:ln w="508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34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772400" y="2665476"/>
            <a:ext cx="1051560" cy="278892"/>
          </a:xfrm>
          <a:prstGeom prst="rect">
            <a:avLst/>
          </a:prstGeom>
          <a:solidFill>
            <a:srgbClr val="FFFFFF"/>
          </a:solidFill>
          <a:ln w="508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7/34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823960" y="2665476"/>
            <a:ext cx="1051560" cy="278892"/>
          </a:xfrm>
          <a:prstGeom prst="rect">
            <a:avLst/>
          </a:prstGeom>
          <a:solidFill>
            <a:srgbClr val="FFFFFF"/>
          </a:solidFill>
          <a:ln w="508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0.206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875520" y="2665476"/>
            <a:ext cx="1051560" cy="278892"/>
          </a:xfrm>
          <a:prstGeom prst="rect">
            <a:avLst/>
          </a:prstGeom>
          <a:solidFill>
            <a:srgbClr val="FFFFFF"/>
          </a:solidFill>
          <a:ln w="508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0.206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65760" y="2944368"/>
            <a:ext cx="640080" cy="278892"/>
          </a:xfrm>
          <a:prstGeom prst="rect">
            <a:avLst/>
          </a:prstGeom>
          <a:solidFill>
            <a:srgbClr val="EEF3F6"/>
          </a:solidFill>
          <a:ln w="508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15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05840" y="2944368"/>
            <a:ext cx="5623560" cy="278892"/>
          </a:xfrm>
          <a:prstGeom prst="rect">
            <a:avLst/>
          </a:prstGeom>
          <a:solidFill>
            <a:srgbClr val="EEF3F6"/>
          </a:solidFill>
          <a:ln w="508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  729f06993dac8e860d4f02d7088ca48a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629400" y="2944368"/>
            <a:ext cx="502920" cy="278892"/>
          </a:xfrm>
          <a:prstGeom prst="rect">
            <a:avLst/>
          </a:prstGeom>
          <a:solidFill>
            <a:srgbClr val="EEF3F6"/>
          </a:solidFill>
          <a:ln w="508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SP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132320" y="2944368"/>
            <a:ext cx="640080" cy="278892"/>
          </a:xfrm>
          <a:prstGeom prst="rect">
            <a:avLst/>
          </a:prstGeom>
          <a:solidFill>
            <a:srgbClr val="EEF3F6"/>
          </a:solidFill>
          <a:ln w="508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45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772400" y="2944368"/>
            <a:ext cx="1051560" cy="278892"/>
          </a:xfrm>
          <a:prstGeom prst="rect">
            <a:avLst/>
          </a:prstGeom>
          <a:solidFill>
            <a:srgbClr val="EEF3F6"/>
          </a:solidFill>
          <a:ln w="508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9/45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823960" y="2944368"/>
            <a:ext cx="1051560" cy="278892"/>
          </a:xfrm>
          <a:prstGeom prst="rect">
            <a:avLst/>
          </a:prstGeom>
          <a:solidFill>
            <a:srgbClr val="EEF3F6"/>
          </a:solidFill>
          <a:ln w="508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0.200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875520" y="2944368"/>
            <a:ext cx="1051560" cy="278892"/>
          </a:xfrm>
          <a:prstGeom prst="rect">
            <a:avLst/>
          </a:prstGeom>
          <a:solidFill>
            <a:srgbClr val="EEF3F6"/>
          </a:solidFill>
          <a:ln w="508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0.222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65760" y="3223260"/>
            <a:ext cx="640080" cy="278892"/>
          </a:xfrm>
          <a:prstGeom prst="rect">
            <a:avLst/>
          </a:prstGeom>
          <a:solidFill>
            <a:srgbClr val="FFFFFF"/>
          </a:solidFill>
          <a:ln w="508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16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005840" y="3223260"/>
            <a:ext cx="5623560" cy="278892"/>
          </a:xfrm>
          <a:prstGeom prst="rect">
            <a:avLst/>
          </a:prstGeom>
          <a:solidFill>
            <a:srgbClr val="FFFFFF"/>
          </a:solidFill>
          <a:ln w="508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  ea566164622c6b439516ab18062c42cd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629400" y="3223260"/>
            <a:ext cx="502920" cy="278892"/>
          </a:xfrm>
          <a:prstGeom prst="rect">
            <a:avLst/>
          </a:prstGeom>
          <a:solidFill>
            <a:srgbClr val="FFFFFF"/>
          </a:solidFill>
          <a:ln w="508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SP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132320" y="3223260"/>
            <a:ext cx="640080" cy="278892"/>
          </a:xfrm>
          <a:prstGeom prst="rect">
            <a:avLst/>
          </a:prstGeom>
          <a:solidFill>
            <a:srgbClr val="FFFFFF"/>
          </a:solidFill>
          <a:ln w="508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46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772400" y="3223260"/>
            <a:ext cx="1051560" cy="278892"/>
          </a:xfrm>
          <a:prstGeom prst="rect">
            <a:avLst/>
          </a:prstGeom>
          <a:solidFill>
            <a:srgbClr val="FFFFFF"/>
          </a:solidFill>
          <a:ln w="508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9/46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823960" y="3223260"/>
            <a:ext cx="1051560" cy="278892"/>
          </a:xfrm>
          <a:prstGeom prst="rect">
            <a:avLst/>
          </a:prstGeom>
          <a:solidFill>
            <a:srgbClr val="FFFFFF"/>
          </a:solidFill>
          <a:ln w="508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0.196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875520" y="3223260"/>
            <a:ext cx="1051560" cy="278892"/>
          </a:xfrm>
          <a:prstGeom prst="rect">
            <a:avLst/>
          </a:prstGeom>
          <a:solidFill>
            <a:srgbClr val="FFFFFF"/>
          </a:solidFill>
          <a:ln w="508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0.217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65760" y="3502152"/>
            <a:ext cx="640080" cy="278892"/>
          </a:xfrm>
          <a:prstGeom prst="rect">
            <a:avLst/>
          </a:prstGeom>
          <a:solidFill>
            <a:srgbClr val="EEF3F6"/>
          </a:solidFill>
          <a:ln w="508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17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05840" y="3502152"/>
            <a:ext cx="5623560" cy="278892"/>
          </a:xfrm>
          <a:prstGeom prst="rect">
            <a:avLst/>
          </a:prstGeom>
          <a:solidFill>
            <a:srgbClr val="EEF3F6"/>
          </a:solidFill>
          <a:ln w="508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  e5a3438891c0bfdb9394643f95273d8e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629400" y="3502152"/>
            <a:ext cx="502920" cy="278892"/>
          </a:xfrm>
          <a:prstGeom prst="rect">
            <a:avLst/>
          </a:prstGeom>
          <a:solidFill>
            <a:srgbClr val="EEF3F6"/>
          </a:solidFill>
          <a:ln w="508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SP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132320" y="3502152"/>
            <a:ext cx="640080" cy="278892"/>
          </a:xfrm>
          <a:prstGeom prst="rect">
            <a:avLst/>
          </a:prstGeom>
          <a:solidFill>
            <a:srgbClr val="EEF3F6"/>
          </a:solidFill>
          <a:ln w="508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105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772400" y="3502152"/>
            <a:ext cx="1051560" cy="278892"/>
          </a:xfrm>
          <a:prstGeom prst="rect">
            <a:avLst/>
          </a:prstGeom>
          <a:solidFill>
            <a:srgbClr val="EEF3F6"/>
          </a:solidFill>
          <a:ln w="508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20/105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823960" y="3502152"/>
            <a:ext cx="1051560" cy="278892"/>
          </a:xfrm>
          <a:prstGeom prst="rect">
            <a:avLst/>
          </a:prstGeom>
          <a:solidFill>
            <a:srgbClr val="EEF3F6"/>
          </a:solidFill>
          <a:ln w="508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0.190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875520" y="3502152"/>
            <a:ext cx="1051560" cy="278892"/>
          </a:xfrm>
          <a:prstGeom prst="rect">
            <a:avLst/>
          </a:prstGeom>
          <a:solidFill>
            <a:srgbClr val="EEF3F6"/>
          </a:solidFill>
          <a:ln w="508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0.210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65760" y="3781044"/>
            <a:ext cx="640080" cy="278892"/>
          </a:xfrm>
          <a:prstGeom prst="rect">
            <a:avLst/>
          </a:prstGeom>
          <a:solidFill>
            <a:srgbClr val="FFFFFF"/>
          </a:solidFill>
          <a:ln w="508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18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005840" y="3781044"/>
            <a:ext cx="5623560" cy="278892"/>
          </a:xfrm>
          <a:prstGeom prst="rect">
            <a:avLst/>
          </a:prstGeom>
          <a:solidFill>
            <a:srgbClr val="FFFFFF"/>
          </a:solidFill>
          <a:ln w="508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  06a2c3af7b3aee5d69171b0e14f0ee87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629400" y="3781044"/>
            <a:ext cx="502920" cy="278892"/>
          </a:xfrm>
          <a:prstGeom prst="rect">
            <a:avLst/>
          </a:prstGeom>
          <a:solidFill>
            <a:srgbClr val="FFFFFF"/>
          </a:solidFill>
          <a:ln w="508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MA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132320" y="3781044"/>
            <a:ext cx="640080" cy="278892"/>
          </a:xfrm>
          <a:prstGeom prst="rect">
            <a:avLst/>
          </a:prstGeom>
          <a:solidFill>
            <a:srgbClr val="FFFFFF"/>
          </a:solidFill>
          <a:ln w="508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389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772400" y="3781044"/>
            <a:ext cx="1051560" cy="278892"/>
          </a:xfrm>
          <a:prstGeom prst="rect">
            <a:avLst/>
          </a:prstGeom>
          <a:solidFill>
            <a:srgbClr val="FFFFFF"/>
          </a:solidFill>
          <a:ln w="508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74/389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823960" y="3781044"/>
            <a:ext cx="1051560" cy="278892"/>
          </a:xfrm>
          <a:prstGeom prst="rect">
            <a:avLst/>
          </a:prstGeom>
          <a:solidFill>
            <a:srgbClr val="FFFFFF"/>
          </a:solidFill>
          <a:ln w="508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0.190</a:t>
            </a:r>
          </a:p>
        </p:txBody>
      </p:sp>
      <p:sp>
        <p:nvSpPr>
          <p:cNvPr id="90" name="Rectangle 89"/>
          <p:cNvSpPr/>
          <p:nvPr/>
        </p:nvSpPr>
        <p:spPr>
          <a:xfrm>
            <a:off x="9875520" y="3781044"/>
            <a:ext cx="1051560" cy="278892"/>
          </a:xfrm>
          <a:prstGeom prst="rect">
            <a:avLst/>
          </a:prstGeom>
          <a:solidFill>
            <a:srgbClr val="FFFFFF"/>
          </a:solidFill>
          <a:ln w="508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0.231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65760" y="4059936"/>
            <a:ext cx="640080" cy="278892"/>
          </a:xfrm>
          <a:prstGeom prst="rect">
            <a:avLst/>
          </a:prstGeom>
          <a:solidFill>
            <a:srgbClr val="EEF3F6"/>
          </a:solidFill>
          <a:ln w="508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26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005840" y="4059936"/>
            <a:ext cx="5623560" cy="278892"/>
          </a:xfrm>
          <a:prstGeom prst="rect">
            <a:avLst/>
          </a:prstGeom>
          <a:solidFill>
            <a:srgbClr val="EEF3F6"/>
          </a:solidFill>
          <a:ln w="508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  e9d99831abad74458942f21e16f33f92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629400" y="4059936"/>
            <a:ext cx="502920" cy="278892"/>
          </a:xfrm>
          <a:prstGeom prst="rect">
            <a:avLst/>
          </a:prstGeom>
          <a:solidFill>
            <a:srgbClr val="EEF3F6"/>
          </a:solidFill>
          <a:ln w="508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SP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132320" y="4059936"/>
            <a:ext cx="640080" cy="278892"/>
          </a:xfrm>
          <a:prstGeom prst="rect">
            <a:avLst/>
          </a:prstGeom>
          <a:solidFill>
            <a:srgbClr val="EEF3F6"/>
          </a:solidFill>
          <a:ln w="508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32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772400" y="4059936"/>
            <a:ext cx="1051560" cy="278892"/>
          </a:xfrm>
          <a:prstGeom prst="rect">
            <a:avLst/>
          </a:prstGeom>
          <a:solidFill>
            <a:srgbClr val="EEF3F6"/>
          </a:solidFill>
          <a:ln w="508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5/32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823960" y="4059936"/>
            <a:ext cx="1051560" cy="278892"/>
          </a:xfrm>
          <a:prstGeom prst="rect">
            <a:avLst/>
          </a:prstGeom>
          <a:solidFill>
            <a:srgbClr val="EEF3F6"/>
          </a:solidFill>
          <a:ln w="508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0.156</a:t>
            </a:r>
          </a:p>
        </p:txBody>
      </p:sp>
      <p:sp>
        <p:nvSpPr>
          <p:cNvPr id="97" name="Rectangle 96"/>
          <p:cNvSpPr/>
          <p:nvPr/>
        </p:nvSpPr>
        <p:spPr>
          <a:xfrm>
            <a:off x="9875520" y="4059936"/>
            <a:ext cx="1051560" cy="278892"/>
          </a:xfrm>
          <a:prstGeom prst="rect">
            <a:avLst/>
          </a:prstGeom>
          <a:solidFill>
            <a:srgbClr val="EEF3F6"/>
          </a:solidFill>
          <a:ln w="508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0.188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65760" y="4338828"/>
            <a:ext cx="640080" cy="278892"/>
          </a:xfrm>
          <a:prstGeom prst="rect">
            <a:avLst/>
          </a:prstGeom>
          <a:solidFill>
            <a:srgbClr val="FFFFFF"/>
          </a:solidFill>
          <a:ln w="508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28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005840" y="4338828"/>
            <a:ext cx="5623560" cy="278892"/>
          </a:xfrm>
          <a:prstGeom prst="rect">
            <a:avLst/>
          </a:prstGeom>
          <a:solidFill>
            <a:srgbClr val="FFFFFF"/>
          </a:solidFill>
          <a:ln w="508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  c60b801f2d52c7f7f91de00870882a75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629400" y="4338828"/>
            <a:ext cx="502920" cy="278892"/>
          </a:xfrm>
          <a:prstGeom prst="rect">
            <a:avLst/>
          </a:prstGeom>
          <a:solidFill>
            <a:srgbClr val="FFFFFF"/>
          </a:solidFill>
          <a:ln w="508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SP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132320" y="4338828"/>
            <a:ext cx="640080" cy="278892"/>
          </a:xfrm>
          <a:prstGeom prst="rect">
            <a:avLst/>
          </a:prstGeom>
          <a:solidFill>
            <a:srgbClr val="FFFFFF"/>
          </a:solidFill>
          <a:ln w="508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39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772400" y="4338828"/>
            <a:ext cx="1051560" cy="278892"/>
          </a:xfrm>
          <a:prstGeom prst="rect">
            <a:avLst/>
          </a:prstGeom>
          <a:solidFill>
            <a:srgbClr val="FFFFFF"/>
          </a:solidFill>
          <a:ln w="508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6/39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8823960" y="4338828"/>
            <a:ext cx="1051560" cy="278892"/>
          </a:xfrm>
          <a:prstGeom prst="rect">
            <a:avLst/>
          </a:prstGeom>
          <a:solidFill>
            <a:srgbClr val="FFFFFF"/>
          </a:solidFill>
          <a:ln w="508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0.154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9875520" y="4338828"/>
            <a:ext cx="1051560" cy="278892"/>
          </a:xfrm>
          <a:prstGeom prst="rect">
            <a:avLst/>
          </a:prstGeom>
          <a:solidFill>
            <a:srgbClr val="FFFFFF"/>
          </a:solidFill>
          <a:ln w="508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0.205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65760" y="4617720"/>
            <a:ext cx="640080" cy="278892"/>
          </a:xfrm>
          <a:prstGeom prst="rect">
            <a:avLst/>
          </a:prstGeom>
          <a:solidFill>
            <a:srgbClr val="EEF3F6"/>
          </a:solidFill>
          <a:ln w="508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35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005840" y="4617720"/>
            <a:ext cx="5623560" cy="278892"/>
          </a:xfrm>
          <a:prstGeom prst="rect">
            <a:avLst/>
          </a:prstGeom>
          <a:solidFill>
            <a:srgbClr val="EEF3F6"/>
          </a:solidFill>
          <a:ln w="508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  643214e62b870443ccbe55ab29a4dccf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629400" y="4617720"/>
            <a:ext cx="502920" cy="278892"/>
          </a:xfrm>
          <a:prstGeom prst="rect">
            <a:avLst/>
          </a:prstGeom>
          <a:solidFill>
            <a:srgbClr val="EEF3F6"/>
          </a:solidFill>
          <a:ln w="508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SP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132320" y="4617720"/>
            <a:ext cx="640080" cy="278892"/>
          </a:xfrm>
          <a:prstGeom prst="rect">
            <a:avLst/>
          </a:prstGeom>
          <a:solidFill>
            <a:srgbClr val="EEF3F6"/>
          </a:solidFill>
          <a:ln w="508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48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7772400" y="4617720"/>
            <a:ext cx="1051560" cy="278892"/>
          </a:xfrm>
          <a:prstGeom prst="rect">
            <a:avLst/>
          </a:prstGeom>
          <a:solidFill>
            <a:srgbClr val="EEF3F6"/>
          </a:solidFill>
          <a:ln w="508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7/48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8823960" y="4617720"/>
            <a:ext cx="1051560" cy="278892"/>
          </a:xfrm>
          <a:prstGeom prst="rect">
            <a:avLst/>
          </a:prstGeom>
          <a:solidFill>
            <a:srgbClr val="EEF3F6"/>
          </a:solidFill>
          <a:ln w="508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0.146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9875520" y="4617720"/>
            <a:ext cx="1051560" cy="278892"/>
          </a:xfrm>
          <a:prstGeom prst="rect">
            <a:avLst/>
          </a:prstGeom>
          <a:solidFill>
            <a:srgbClr val="EEF3F6"/>
          </a:solidFill>
          <a:ln w="508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0.167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365760" y="4896612"/>
            <a:ext cx="640080" cy="278892"/>
          </a:xfrm>
          <a:prstGeom prst="rect">
            <a:avLst/>
          </a:prstGeom>
          <a:solidFill>
            <a:srgbClr val="FFFFFF"/>
          </a:solidFill>
          <a:ln w="508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36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005840" y="4896612"/>
            <a:ext cx="5623560" cy="278892"/>
          </a:xfrm>
          <a:prstGeom prst="rect">
            <a:avLst/>
          </a:prstGeom>
          <a:solidFill>
            <a:srgbClr val="FFFFFF"/>
          </a:solidFill>
          <a:ln w="508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  8b9d6eec4a7eb7d0f9d579ce0b38324d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629400" y="4896612"/>
            <a:ext cx="502920" cy="278892"/>
          </a:xfrm>
          <a:prstGeom prst="rect">
            <a:avLst/>
          </a:prstGeom>
          <a:solidFill>
            <a:srgbClr val="FFFFFF"/>
          </a:solidFill>
          <a:ln w="508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RJ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7132320" y="4896612"/>
            <a:ext cx="640080" cy="278892"/>
          </a:xfrm>
          <a:prstGeom prst="rect">
            <a:avLst/>
          </a:prstGeom>
          <a:solidFill>
            <a:srgbClr val="FFFFFF"/>
          </a:solidFill>
          <a:ln w="508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48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7772400" y="4896612"/>
            <a:ext cx="1051560" cy="278892"/>
          </a:xfrm>
          <a:prstGeom prst="rect">
            <a:avLst/>
          </a:prstGeom>
          <a:solidFill>
            <a:srgbClr val="FFFFFF"/>
          </a:solidFill>
          <a:ln w="508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7/48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8823960" y="4896612"/>
            <a:ext cx="1051560" cy="278892"/>
          </a:xfrm>
          <a:prstGeom prst="rect">
            <a:avLst/>
          </a:prstGeom>
          <a:solidFill>
            <a:srgbClr val="FFFFFF"/>
          </a:solidFill>
          <a:ln w="508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0.146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9875520" y="4896612"/>
            <a:ext cx="1051560" cy="278892"/>
          </a:xfrm>
          <a:prstGeom prst="rect">
            <a:avLst/>
          </a:prstGeom>
          <a:solidFill>
            <a:srgbClr val="FFFFFF"/>
          </a:solidFill>
          <a:ln w="508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0.167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365760" y="5175504"/>
            <a:ext cx="640080" cy="278892"/>
          </a:xfrm>
          <a:prstGeom prst="rect">
            <a:avLst/>
          </a:prstGeom>
          <a:solidFill>
            <a:srgbClr val="EEF3F6"/>
          </a:solidFill>
          <a:ln w="508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37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1005840" y="5175504"/>
            <a:ext cx="5623560" cy="278892"/>
          </a:xfrm>
          <a:prstGeom prst="rect">
            <a:avLst/>
          </a:prstGeom>
          <a:solidFill>
            <a:srgbClr val="EEF3F6"/>
          </a:solidFill>
          <a:ln w="508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  8f2ce03f928b567e3d56181ae20ae952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6629400" y="5175504"/>
            <a:ext cx="502920" cy="278892"/>
          </a:xfrm>
          <a:prstGeom prst="rect">
            <a:avLst/>
          </a:prstGeom>
          <a:solidFill>
            <a:srgbClr val="EEF3F6"/>
          </a:solidFill>
          <a:ln w="508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SP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7132320" y="5175504"/>
            <a:ext cx="640080" cy="278892"/>
          </a:xfrm>
          <a:prstGeom prst="rect">
            <a:avLst/>
          </a:prstGeom>
          <a:solidFill>
            <a:srgbClr val="EEF3F6"/>
          </a:solidFill>
          <a:ln w="508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104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7772400" y="5175504"/>
            <a:ext cx="1051560" cy="278892"/>
          </a:xfrm>
          <a:prstGeom prst="rect">
            <a:avLst/>
          </a:prstGeom>
          <a:solidFill>
            <a:srgbClr val="EEF3F6"/>
          </a:solidFill>
          <a:ln w="508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15/104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8823960" y="5175504"/>
            <a:ext cx="1051560" cy="278892"/>
          </a:xfrm>
          <a:prstGeom prst="rect">
            <a:avLst/>
          </a:prstGeom>
          <a:solidFill>
            <a:srgbClr val="EEF3F6"/>
          </a:solidFill>
          <a:ln w="508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0.144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9875520" y="5175504"/>
            <a:ext cx="1051560" cy="278892"/>
          </a:xfrm>
          <a:prstGeom prst="rect">
            <a:avLst/>
          </a:prstGeom>
          <a:solidFill>
            <a:srgbClr val="EEF3F6"/>
          </a:solidFill>
          <a:ln w="508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0.163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65760" y="5454396"/>
            <a:ext cx="640080" cy="278892"/>
          </a:xfrm>
          <a:prstGeom prst="rect">
            <a:avLst/>
          </a:prstGeom>
          <a:solidFill>
            <a:srgbClr val="FFFFFF"/>
          </a:solidFill>
          <a:ln w="508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38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1005840" y="5454396"/>
            <a:ext cx="5623560" cy="278892"/>
          </a:xfrm>
          <a:prstGeom prst="rect">
            <a:avLst/>
          </a:prstGeom>
          <a:solidFill>
            <a:srgbClr val="FFFFFF"/>
          </a:solidFill>
          <a:ln w="508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  f7ba60f8c3f99e7ee4042fdef03b70c4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6629400" y="5454396"/>
            <a:ext cx="502920" cy="278892"/>
          </a:xfrm>
          <a:prstGeom prst="rect">
            <a:avLst/>
          </a:prstGeom>
          <a:solidFill>
            <a:srgbClr val="FFFFFF"/>
          </a:solidFill>
          <a:ln w="508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SP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7132320" y="5454396"/>
            <a:ext cx="640080" cy="278892"/>
          </a:xfrm>
          <a:prstGeom prst="rect">
            <a:avLst/>
          </a:prstGeom>
          <a:solidFill>
            <a:srgbClr val="FFFFFF"/>
          </a:solidFill>
          <a:ln w="508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175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7772400" y="5454396"/>
            <a:ext cx="1051560" cy="278892"/>
          </a:xfrm>
          <a:prstGeom prst="rect">
            <a:avLst/>
          </a:prstGeom>
          <a:solidFill>
            <a:srgbClr val="FFFFFF"/>
          </a:solidFill>
          <a:ln w="508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25/175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8823960" y="5454396"/>
            <a:ext cx="1051560" cy="278892"/>
          </a:xfrm>
          <a:prstGeom prst="rect">
            <a:avLst/>
          </a:prstGeom>
          <a:solidFill>
            <a:srgbClr val="FFFFFF"/>
          </a:solidFill>
          <a:ln w="508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0.143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9875520" y="5454396"/>
            <a:ext cx="1051560" cy="278892"/>
          </a:xfrm>
          <a:prstGeom prst="rect">
            <a:avLst/>
          </a:prstGeom>
          <a:solidFill>
            <a:srgbClr val="FFFFFF"/>
          </a:solidFill>
          <a:ln w="508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0.160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365760" y="5733288"/>
            <a:ext cx="640080" cy="278892"/>
          </a:xfrm>
          <a:prstGeom prst="rect">
            <a:avLst/>
          </a:prstGeom>
          <a:solidFill>
            <a:srgbClr val="EEF3F6"/>
          </a:solidFill>
          <a:ln w="508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39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1005840" y="5733288"/>
            <a:ext cx="5623560" cy="278892"/>
          </a:xfrm>
          <a:prstGeom prst="rect">
            <a:avLst/>
          </a:prstGeom>
          <a:solidFill>
            <a:srgbClr val="EEF3F6"/>
          </a:solidFill>
          <a:ln w="508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  2e90cb1677d35cfe24eef47d441b7c87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6629400" y="5733288"/>
            <a:ext cx="502920" cy="278892"/>
          </a:xfrm>
          <a:prstGeom prst="rect">
            <a:avLst/>
          </a:prstGeom>
          <a:solidFill>
            <a:srgbClr val="EEF3F6"/>
          </a:solidFill>
          <a:ln w="508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SP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7132320" y="5733288"/>
            <a:ext cx="640080" cy="278892"/>
          </a:xfrm>
          <a:prstGeom prst="rect">
            <a:avLst/>
          </a:prstGeom>
          <a:solidFill>
            <a:srgbClr val="EEF3F6"/>
          </a:solidFill>
          <a:ln w="508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84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7772400" y="5733288"/>
            <a:ext cx="1051560" cy="278892"/>
          </a:xfrm>
          <a:prstGeom prst="rect">
            <a:avLst/>
          </a:prstGeom>
          <a:solidFill>
            <a:srgbClr val="EEF3F6"/>
          </a:solidFill>
          <a:ln w="508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12/84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8823960" y="5733288"/>
            <a:ext cx="1051560" cy="278892"/>
          </a:xfrm>
          <a:prstGeom prst="rect">
            <a:avLst/>
          </a:prstGeom>
          <a:solidFill>
            <a:srgbClr val="EEF3F6"/>
          </a:solidFill>
          <a:ln w="508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0.143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9875520" y="5733288"/>
            <a:ext cx="1051560" cy="278892"/>
          </a:xfrm>
          <a:prstGeom prst="rect">
            <a:avLst/>
          </a:prstGeom>
          <a:solidFill>
            <a:srgbClr val="EEF3F6"/>
          </a:solidFill>
          <a:ln w="5080">
            <a:solidFill>
              <a:srgbClr val="E2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0.155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365760" y="59893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563"/>
                </a:solidFill>
                <a:latin typeface="Calibri"/>
              </a:rPr>
              <a:t>Source: round1-grok.md / pack.txt transcribed from output/Stage_04_seller_export.csv and the enroll sheet. Ranks skip; do not treat skipped ranks as a reconstructed filter of the 40 P90 passers. Date LFR 0.143–0.288.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Options  ·  A selected; B–G not selected as the statistical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FulfillIQ Stage 5  |  Decision brief  |  2 Sep 2026  |  Maya retains approval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656832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6 /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822960"/>
            <a:ext cx="11338560" cy="713232"/>
          </a:xfrm>
          <a:prstGeom prst="rect">
            <a:avLst/>
          </a:prstGeom>
          <a:solidFill>
            <a:srgbClr val="E7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822960"/>
            <a:ext cx="109728" cy="713232"/>
          </a:xfrm>
          <a:prstGeom prst="rect">
            <a:avLst/>
          </a:prstGeom>
          <a:solidFill>
            <a:srgbClr val="0F6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859536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65D"/>
                </a:solidFill>
                <a:latin typeface="Calibri"/>
              </a:rPr>
              <a:t>A  Enroll the 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133856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SELECTED. Rule output after P90 raise, screens, and cap. All three AIs. Do not pad.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591056"/>
            <a:ext cx="11338560" cy="713232"/>
          </a:xfrm>
          <a:prstGeom prst="rect">
            <a:avLst/>
          </a:prstGeom>
          <a:solidFill>
            <a:srgbClr val="F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1591056"/>
            <a:ext cx="109728" cy="713232"/>
          </a:xfrm>
          <a:prstGeom prst="rect">
            <a:avLst/>
          </a:prstGeom>
          <a:solidFill>
            <a:srgbClr val="8A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62763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65D"/>
                </a:solidFill>
                <a:latin typeface="Calibri"/>
              </a:rPr>
              <a:t>B  Enroll fewer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9019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Not a new statistical rule. Allowed only as a staffing contingency if Maya cannot run 18 plans. Do not invent a 10–11 cutoff.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359152"/>
            <a:ext cx="11338560" cy="713232"/>
          </a:xfrm>
          <a:prstGeom prst="rect">
            <a:avLst/>
          </a:prstGeom>
          <a:solidFill>
            <a:srgbClr val="F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" y="2359152"/>
            <a:ext cx="109728" cy="713232"/>
          </a:xfrm>
          <a:prstGeom prst="rect">
            <a:avLst/>
          </a:prstGeom>
          <a:solidFill>
            <a:srgbClr val="8A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39572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65D"/>
                </a:solidFill>
                <a:latin typeface="Calibri"/>
              </a:rPr>
              <a:t>C  Enroll the P75 band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26700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Reject. raise_bar_to_p90=1 because clean P75 = 99 &gt; 20. Would blow the cap.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127248"/>
            <a:ext cx="11338560" cy="713232"/>
          </a:xfrm>
          <a:prstGeom prst="rect">
            <a:avLst/>
          </a:prstGeom>
          <a:solidFill>
            <a:srgbClr val="F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" y="3127248"/>
            <a:ext cx="109728" cy="713232"/>
          </a:xfrm>
          <a:prstGeom prst="rect">
            <a:avLst/>
          </a:prstGeom>
          <a:solidFill>
            <a:srgbClr val="8A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16382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65D"/>
                </a:solidFill>
                <a:latin typeface="Calibri"/>
              </a:rPr>
              <a:t>D  Pad to 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43814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Reject. Empty slots are capacity, not missing evidence. Padding is forbidden.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3895344"/>
            <a:ext cx="11338560" cy="713232"/>
          </a:xfrm>
          <a:prstGeom prst="rect">
            <a:avLst/>
          </a:prstGeom>
          <a:solidFill>
            <a:srgbClr val="F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" y="3895344"/>
            <a:ext cx="109728" cy="713232"/>
          </a:xfrm>
          <a:prstGeom prst="rect">
            <a:avLst/>
          </a:prstGeom>
          <a:solidFill>
            <a:srgbClr val="8A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93192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65D"/>
                </a:solidFill>
                <a:latin typeface="Calibri"/>
              </a:rPr>
              <a:t>E  Enroll nobody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Reject. Operational null is not supported. 18 sellers survived the locked screens.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4663440"/>
            <a:ext cx="11338560" cy="713232"/>
          </a:xfrm>
          <a:prstGeom prst="rect">
            <a:avLst/>
          </a:prstGeom>
          <a:solidFill>
            <a:srgbClr val="F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1480" y="4663440"/>
            <a:ext cx="109728" cy="713232"/>
          </a:xfrm>
          <a:prstGeom prst="rect">
            <a:avLst/>
          </a:prstGeom>
          <a:solidFill>
            <a:srgbClr val="8A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4700016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65D"/>
                </a:solidFill>
                <a:latin typeface="Calibri"/>
              </a:rPr>
              <a:t>F  Defer for more data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4974336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Reject as default. Watch/inconclusive already exist. 2018 vs 2026 is a wording limit, not F.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5431536"/>
            <a:ext cx="11338560" cy="713232"/>
          </a:xfrm>
          <a:prstGeom prst="rect">
            <a:avLst/>
          </a:prstGeom>
          <a:solidFill>
            <a:srgbClr val="F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11480" y="5431536"/>
            <a:ext cx="109728" cy="713232"/>
          </a:xfrm>
          <a:prstGeom prst="rect">
            <a:avLst/>
          </a:prstGeom>
          <a:solidFill>
            <a:srgbClr val="8A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546811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65D"/>
                </a:solidFill>
                <a:latin typeface="Calibri"/>
              </a:rPr>
              <a:t>G  Offboarding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742431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Out of scope. Later VP recommendation, not this decision.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Recommendation  ·  proceed with enroll the 18 (Option A)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FulfillIQ Stage 5  |  Decision brief  |  2 Sep 2026  |  Maya retains approval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656832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7 /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68680"/>
            <a:ext cx="11247120" cy="1234440"/>
          </a:xfrm>
          <a:prstGeom prst="rect">
            <a:avLst/>
          </a:prstGeom>
          <a:solidFill>
            <a:srgbClr val="E7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868680"/>
            <a:ext cx="109728" cy="1234440"/>
          </a:xfrm>
          <a:prstGeom prst="rect">
            <a:avLst/>
          </a:prstGeom>
          <a:solidFill>
            <a:srgbClr val="0F6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96012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365D"/>
                </a:solidFill>
                <a:latin typeface="Calibri"/>
              </a:rPr>
              <a:t>Enroll the 18 P90-and-above sellers who cleared stability and precision screens. Leave two ~20-cap slots empty. Keep 63 watch and 36 inconclusive classified. Implementation: 30-day plan; no new KPI cuts.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8600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Locked rule said: if clean P75 &gt;20, enroll at P90, do not pad. Execution: pass_p75=99, raise_bar_to_p90=1, pass_p90=40, enroll=18.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Do not fill empty cap slots. Do not enroll the 99 P75 passers. Do not convert 51 split-window or 36 precision-conflict sellers.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Monitor LFR as late_n / eligible_n for the 18 during the plan. Stop/review if precision would flip action or volume collapses.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Optional ops awareness (does not change status): MA seller 06a2c3af… n=389 is the largest denominator; 14 of 18 accounts are SP.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This is targeting under locked 2018 delivered-order rules, not proof the plan will reduce lateness in 2026.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Best existing chart  ·  cite the workbook; no reconstructed pixels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FulfillIQ Stage 5  |  Decision brief  |  2 Sep 2026  |  Maya retains approval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656832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8 /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051560"/>
            <a:ext cx="10881360" cy="4160520"/>
          </a:xfrm>
          <a:prstGeom prst="rect">
            <a:avLst/>
          </a:prstGeom>
          <a:solidFill>
            <a:srgbClr val="F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051560"/>
            <a:ext cx="10881360" cy="109728"/>
          </a:xfrm>
          <a:prstGeom prst="rect">
            <a:avLst/>
          </a:prstGeom>
          <a:solidFill>
            <a:srgbClr val="0F6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3716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B365D"/>
                </a:solidFill>
                <a:latin typeface="Calibri"/>
              </a:rPr>
              <a:t>Figure 1 — Seller LFR vs eligible volume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202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Workbook sheet: charts
File: results/2026-09-02/FulfillIQ_R_Evidence_2026-09-02.xlsx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4320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Why this chart: it shows denominator and rate together so Maya does not enroll a high rate with a tiny n, and it shows 18 vs watch vs standard without hiding volume. Floor, peer bar, and action are on the same figure.
This brief does not embed a fake chart. Open Figure 1 in the executed workbook. Supporting figures on the same sheet (pack): Fig2 n≥30 LFR distribution; Fig3 date vs timestamp; Fig4 split-window.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9496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5563"/>
                </a:solidFill>
                <a:latin typeface="Calibri"/>
              </a:rPr>
              <a:t>SQL (sql/Stage_04_FulfillIQ_Analysis.sql) is implementation, not execution proof. Executed evidence is the CSV + R workbook after the 2 September 2026 run.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Next actions  ·  three only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FulfillIQ Stage 5  |  Decision brief  |  2 Sep 2026  |  Maya retains approval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656832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9 /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60120"/>
            <a:ext cx="11155680" cy="1554480"/>
          </a:xfrm>
          <a:prstGeom prst="rect">
            <a:avLst/>
          </a:prstGeom>
          <a:solidFill>
            <a:srgbClr val="F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1371600"/>
            <a:ext cx="731520" cy="731520"/>
          </a:xfrm>
          <a:prstGeom prst="ellipse">
            <a:avLst/>
          </a:prstGeom>
          <a:solidFill>
            <a:srgbClr val="0F6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18872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365D"/>
                </a:solidFill>
                <a:latin typeface="Calibri"/>
              </a:rPr>
              <a:t>Maya approve the 18 by 18 September 2026.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182880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Decision owner retains approval. Three-AI rec is support, not self-executing.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697480"/>
            <a:ext cx="11155680" cy="1554480"/>
          </a:xfrm>
          <a:prstGeom prst="rect">
            <a:avLst/>
          </a:prstGeom>
          <a:solidFill>
            <a:srgbClr val="F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108960"/>
            <a:ext cx="731520" cy="731520"/>
          </a:xfrm>
          <a:prstGeom prst="ellipse">
            <a:avLst/>
          </a:prstGeom>
          <a:solidFill>
            <a:srgbClr val="0F6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92608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365D"/>
                </a:solidFill>
                <a:latin typeface="Calibri"/>
              </a:rPr>
              <a:t>Seller ops open 30-day plans; do not convert watch/inconclusive.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56616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63 watch (51 split-window + 12 P75 band) and 36 precision-conflict stay classified.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434840"/>
            <a:ext cx="11155680" cy="1554480"/>
          </a:xfrm>
          <a:prstGeom prst="rect">
            <a:avLst/>
          </a:prstGeom>
          <a:solidFill>
            <a:srgbClr val="F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46320"/>
            <a:ext cx="731520" cy="731520"/>
          </a:xfrm>
          <a:prstGeom prst="ellipse">
            <a:avLst/>
          </a:prstGeom>
          <a:solidFill>
            <a:srgbClr val="0F6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466344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365D"/>
                </a:solidFill>
                <a:latin typeface="Calibri"/>
              </a:rPr>
              <a:t>Report late_n / eligible_n for the 18 during the plan; do not invent a new bar.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530352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No 95%, no 8.11%, no unpublished n or LFR cut. Stop/review if precision would flip or volume collapses.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Confidence and limitations  ·  high / moderate / low  (not x/10)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FulfillIQ Stage 5  |  Decision brief  |  2 Sep 2026  |  Maya retains approval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656832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10 /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868680"/>
            <a:ext cx="2788920" cy="1691640"/>
          </a:xfrm>
          <a:prstGeom prst="rect">
            <a:avLst/>
          </a:prstGeom>
          <a:solidFill>
            <a:srgbClr val="F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" y="97840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6C6C"/>
                </a:solidFill>
                <a:latin typeface="Calibri"/>
              </a:rPr>
              <a:t>OVERALL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" y="125272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365D"/>
                </a:solidFill>
                <a:latin typeface="Calibri"/>
              </a:rPr>
              <a:t>MODERATE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" y="173736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Right roster under locked rules; weaker on transport and edge cases.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868680"/>
            <a:ext cx="2788920" cy="1691640"/>
          </a:xfrm>
          <a:prstGeom prst="rect">
            <a:avLst/>
          </a:prstGeom>
          <a:solidFill>
            <a:srgbClr val="F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97840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6C6C"/>
                </a:solidFill>
                <a:latin typeface="Calibri"/>
              </a:rPr>
              <a:t>PROCESS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125272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365D"/>
                </a:solidFill>
                <a:latin typeface="Calibri"/>
              </a:rPr>
              <a:t>HIGH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173736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Floor, P90 raise, actions, QA pass, cap, no-pad reconcile.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868680"/>
            <a:ext cx="2788920" cy="1691640"/>
          </a:xfrm>
          <a:prstGeom prst="rect">
            <a:avLst/>
          </a:prstGeom>
          <a:solidFill>
            <a:srgbClr val="F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97840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6C6C"/>
                </a:solidFill>
                <a:latin typeface="Calibri"/>
              </a:rPr>
              <a:t>2018 →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125272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365D"/>
                </a:solidFill>
                <a:latin typeface="Calibri"/>
              </a:rPr>
              <a:t>LOWER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3368" y="173736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Historical rule-satisfaction, not current propensity.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89720" y="868680"/>
            <a:ext cx="2788920" cy="1691640"/>
          </a:xfrm>
          <a:prstGeom prst="rect">
            <a:avLst/>
          </a:prstGeom>
          <a:solidFill>
            <a:srgbClr val="F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99448" y="97840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6C6C"/>
                </a:solidFill>
                <a:latin typeface="Calibri"/>
              </a:rPr>
              <a:t>SMALL-n / P90 EDGE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99448" y="125272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365D"/>
                </a:solidFill>
                <a:latin typeface="Calibri"/>
              </a:rPr>
              <a:t>LOWER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99448" y="173736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Several IDs near n=30 or displayed P90 0.14286.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2743200"/>
            <a:ext cx="11338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Unresolved, not blocking A: no 40-to-18 cross-tab; 2018 vs 2026; treatment effect unknown; P90-edge / small-n fragility.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Removed claims: DeepSeek 40-trimmed-by-rank/weights; ~3.1pp from one extra on-time delivery (wrong math); 0.014pp above P90; 9.5/10 scores; “early offboarding”; “top 18 performers.”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Removed: Grok implied 36+51 deducted from the 40 P90 (counts exceed 40). ChatGPT is correct on the missing path.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All three AIs remain on A. Remaining dissent is (B) as staffing overlay and reconstructing 40→18 — not a different letter.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Human approval required. Maya / authorized human retains the enrollment decision.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